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70" r:id="rId4"/>
    <p:sldId id="271" r:id="rId5"/>
    <p:sldId id="273" r:id="rId6"/>
    <p:sldId id="274" r:id="rId7"/>
    <p:sldId id="275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599" autoAdjust="0"/>
  </p:normalViewPr>
  <p:slideViewPr>
    <p:cSldViewPr>
      <p:cViewPr varScale="1">
        <p:scale>
          <a:sx n="102" d="100"/>
          <a:sy n="102" d="100"/>
        </p:scale>
        <p:origin x="2502" y="10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3072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8D0EFA9-57C0-4188-B1C6-56EB9958F127}" type="datetime1">
              <a:rPr lang="pt-BR" smtClean="0"/>
              <a:t>15/05/2024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50423A-8BCE-448E-A97B-03A88B2B12C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77323E-F331-42C0-8ED8-298FE2B5981D}" type="datetime1">
              <a:rPr lang="pt-BR" smtClean="0"/>
              <a:t>15/05/2024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dirty="0"/>
              <a:t>Clique para editar o texto Mestre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F2A70B-78F2-4DCF-B53B-C990D2FAFB8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5624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8499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5599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2997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9461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671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7592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0556" y="609601"/>
            <a:ext cx="8673963" cy="3200400"/>
          </a:xfrm>
        </p:spPr>
        <p:txBody>
          <a:bodyPr anchor="b">
            <a:normAutofit/>
          </a:bodyPr>
          <a:lstStyle>
            <a:lvl1pPr algn="ctr">
              <a:defRPr sz="4799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0556" y="3886200"/>
            <a:ext cx="8673963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099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82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83396C3-3492-4496-8698-79E4814AE53F}" type="datetime1">
              <a:rPr lang="pt-BR" smtClean="0"/>
              <a:t>15/05/2024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0387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557" y="3308581"/>
            <a:ext cx="8684538" cy="1468800"/>
          </a:xfrm>
        </p:spPr>
        <p:txBody>
          <a:bodyPr anchor="b"/>
          <a:lstStyle>
            <a:lvl1pPr algn="r">
              <a:defRPr sz="3999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0555" y="4777381"/>
            <a:ext cx="8684539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999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7F0D0AC-B9DC-491A-B40C-0529EC313878}" type="datetime1">
              <a:rPr lang="pt-BR" smtClean="0"/>
              <a:t>15/05/2024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177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115" y="2667000"/>
            <a:ext cx="4875530" cy="3124201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9005" y="2667000"/>
            <a:ext cx="4875530" cy="3124200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15/05/2024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07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8908" y="2658533"/>
            <a:ext cx="4587736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115" y="3243263"/>
            <a:ext cx="4875530" cy="2547937"/>
          </a:xfrm>
        </p:spPr>
        <p:txBody>
          <a:bodyPr anchor="t"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1455" y="2667000"/>
            <a:ext cx="4603081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9006" y="3243263"/>
            <a:ext cx="4875531" cy="2547937"/>
          </a:xfrm>
        </p:spPr>
        <p:txBody>
          <a:bodyPr anchor="t"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15/05/2024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039328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A02F2C7-204F-4F9D-81F3-C7CE8047CD3A}" type="datetime1">
              <a:rPr lang="pt-BR" smtClean="0"/>
              <a:t>15/05/2024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3941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15/05/2024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8602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4" y="1600200"/>
            <a:ext cx="3548197" cy="1371600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483" y="609601"/>
            <a:ext cx="5942053" cy="5181600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4" y="2971800"/>
            <a:ext cx="3548197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5CA678-7531-4BBD-B1E6-6A1CA37BCB1B}" type="datetime1">
              <a:rPr lang="pt-BR" smtClean="0"/>
              <a:t>15/05/2024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235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4" y="1600200"/>
            <a:ext cx="5332612" cy="1371600"/>
          </a:xfrm>
        </p:spPr>
        <p:txBody>
          <a:bodyPr anchor="b">
            <a:normAutofit/>
          </a:bodyPr>
          <a:lstStyle>
            <a:lvl1pPr algn="l">
              <a:defRPr sz="2799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1797" y="-18288"/>
            <a:ext cx="3275746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4" y="2971800"/>
            <a:ext cx="5332612" cy="1828800"/>
          </a:xfrm>
        </p:spPr>
        <p:txBody>
          <a:bodyPr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7545" y="5883276"/>
            <a:ext cx="914162" cy="365125"/>
          </a:xfrm>
        </p:spPr>
        <p:txBody>
          <a:bodyPr/>
          <a:lstStyle/>
          <a:p>
            <a:pPr rtl="0"/>
            <a:fld id="{D2184FD6-C734-4162-88D8-0C01192F6E9B}" type="datetime1">
              <a:rPr lang="pt-BR" smtClean="0"/>
              <a:t>15/05/2024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115" y="5883276"/>
            <a:ext cx="5104070" cy="365125"/>
          </a:xfrm>
        </p:spPr>
        <p:txBody>
          <a:bodyPr/>
          <a:lstStyle/>
          <a:p>
            <a:pPr rtl="0"/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39815" y="5883276"/>
            <a:ext cx="322483" cy="365125"/>
          </a:xfrm>
        </p:spPr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751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6" y="4732865"/>
            <a:ext cx="9903420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096" y="932112"/>
            <a:ext cx="8223802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6" y="5299603"/>
            <a:ext cx="990342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15/05/2024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4587995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5" y="609602"/>
            <a:ext cx="9903419" cy="3124199"/>
          </a:xfrm>
        </p:spPr>
        <p:txBody>
          <a:bodyPr anchor="ctr">
            <a:normAutofit/>
          </a:bodyPr>
          <a:lstStyle>
            <a:lvl1pPr algn="l">
              <a:defRPr sz="3199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4" y="4343400"/>
            <a:ext cx="990342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15/05/2024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37853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394" y="786824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5094" y="274320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609602"/>
            <a:ext cx="9293977" cy="2743199"/>
          </a:xfrm>
        </p:spPr>
        <p:txBody>
          <a:bodyPr anchor="ctr">
            <a:normAutofit/>
          </a:bodyPr>
          <a:lstStyle>
            <a:lvl1pPr algn="l">
              <a:defRPr sz="3199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376" y="3352800"/>
            <a:ext cx="88369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4" y="4343400"/>
            <a:ext cx="990342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1999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15/05/2024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3218907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5" y="3308581"/>
            <a:ext cx="9903420" cy="1468800"/>
          </a:xfrm>
        </p:spPr>
        <p:txBody>
          <a:bodyPr anchor="b">
            <a:normAutofit/>
          </a:bodyPr>
          <a:lstStyle>
            <a:lvl1pPr algn="l">
              <a:defRPr sz="3199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3" y="4777381"/>
            <a:ext cx="990342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999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15/05/2024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654965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394" y="786824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5094" y="274320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609602"/>
            <a:ext cx="9293977" cy="2743199"/>
          </a:xfrm>
        </p:spPr>
        <p:txBody>
          <a:bodyPr anchor="ctr">
            <a:normAutofit/>
          </a:bodyPr>
          <a:lstStyle>
            <a:lvl1pPr algn="l">
              <a:defRPr sz="3199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115" y="3886200"/>
            <a:ext cx="990342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399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4" y="4775200"/>
            <a:ext cx="990342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15/05/2024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362247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5" y="609602"/>
            <a:ext cx="990341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115" y="3505200"/>
            <a:ext cx="990342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799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4" y="4343400"/>
            <a:ext cx="990342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15/05/2024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82476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116" y="609600"/>
            <a:ext cx="990341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8215C2D-4C5F-41A8-B554-C650AF34C482}" type="datetime1">
              <a:rPr lang="pt-BR" smtClean="0"/>
              <a:t>15/05/2024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675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4597" y="609600"/>
            <a:ext cx="2209938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115" y="609600"/>
            <a:ext cx="7541835" cy="5181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0E39326-9852-4665-8E10-5CCFE1522248}" type="datetime1">
              <a:rPr lang="pt-BR" smtClean="0"/>
              <a:t>15/05/2024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1214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116" y="609600"/>
            <a:ext cx="990341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6" y="2667000"/>
            <a:ext cx="990341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5311" y="5883276"/>
            <a:ext cx="15997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rtl="0"/>
            <a:fld id="{99758D4F-735F-46FE-9FCB-4849D9F60668}" type="datetime1">
              <a:rPr lang="pt-BR" smtClean="0"/>
              <a:t>15/05/2024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115" y="5883276"/>
            <a:ext cx="7541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1275" y="5883276"/>
            <a:ext cx="551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23713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457063" rtl="0" eaLnBrk="1" latinLnBrk="0" hangingPunct="1">
        <a:spcBef>
          <a:spcPct val="0"/>
        </a:spcBef>
        <a:buNone/>
        <a:defRPr sz="3199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999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799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pt-BR" dirty="0"/>
              <a:t>Ministério da ciência, tecnologia e inovações</a:t>
            </a:r>
            <a:br>
              <a:rPr lang="pt-BR" dirty="0"/>
            </a:br>
            <a:br>
              <a:rPr lang="pt-BR" dirty="0"/>
            </a:br>
            <a:r>
              <a:rPr lang="pt-BR" sz="3200" dirty="0"/>
              <a:t>Concurso laboratório nacional de computação científica</a:t>
            </a:r>
            <a:br>
              <a:rPr lang="pt-BR" sz="3200" dirty="0"/>
            </a:br>
            <a:r>
              <a:rPr lang="pt-BR" sz="3200" dirty="0" err="1"/>
              <a:t>lncc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44241" y="4307264"/>
            <a:ext cx="8673963" cy="1905000"/>
          </a:xfrm>
        </p:spPr>
        <p:txBody>
          <a:bodyPr rtlCol="0"/>
          <a:lstStyle/>
          <a:p>
            <a:pPr rtl="0"/>
            <a:r>
              <a:rPr lang="pt-BR" dirty="0"/>
              <a:t>Prova Oral</a:t>
            </a:r>
          </a:p>
          <a:p>
            <a:pPr rtl="0"/>
            <a:r>
              <a:rPr lang="pt-BR" dirty="0"/>
              <a:t>Alice Rezende Ratton </a:t>
            </a:r>
            <a:r>
              <a:rPr lang="pt-BR" dirty="0" err="1"/>
              <a:t>Coppos</a:t>
            </a:r>
            <a:endParaRPr lang="pt-BR" dirty="0"/>
          </a:p>
          <a:p>
            <a:pPr rtl="0"/>
            <a:r>
              <a:rPr lang="pt-BR" dirty="0"/>
              <a:t>Para tecnologista pleno em ciências de dados  e inteligência artificial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01B641D-DB2E-1E36-5D61-8342EB4BF5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80" y="5733256"/>
            <a:ext cx="1504315" cy="7092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ctr" rtl="0"/>
            <a:r>
              <a:rPr lang="pt-BR" dirty="0"/>
              <a:t>Redes neurais profundas: </a:t>
            </a:r>
            <a:r>
              <a:rPr lang="pt-BR" dirty="0" err="1"/>
              <a:t>convolucionais</a:t>
            </a:r>
            <a:r>
              <a:rPr lang="pt-BR" dirty="0"/>
              <a:t>, recorrentes, </a:t>
            </a:r>
            <a:r>
              <a:rPr lang="pt-BR" dirty="0" err="1"/>
              <a:t>autoencoder</a:t>
            </a:r>
            <a:endParaRPr lang="pt-BR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621804" y="2597084"/>
            <a:ext cx="7024707" cy="3124201"/>
          </a:xfrm>
        </p:spPr>
        <p:txBody>
          <a:bodyPr rtlCol="0"/>
          <a:lstStyle/>
          <a:p>
            <a:pPr rtl="0"/>
            <a:r>
              <a:rPr lang="pt-BR" dirty="0"/>
              <a:t>Inspiração neurônios biológicos</a:t>
            </a:r>
          </a:p>
          <a:p>
            <a:pPr rtl="0"/>
            <a:r>
              <a:rPr lang="pt-BR" dirty="0"/>
              <a:t>Neurônios biológicos geram impulsos elétricos como potencial de ação através sinapses</a:t>
            </a:r>
          </a:p>
          <a:p>
            <a:pPr rtl="0"/>
            <a:r>
              <a:rPr lang="pt-BR" dirty="0"/>
              <a:t>Estrutura individual relativamente simples rede complexa de bilhões de neurônios interconectados</a:t>
            </a:r>
          </a:p>
          <a:p>
            <a:pPr rtl="0"/>
            <a:r>
              <a:rPr lang="pt-BR" dirty="0"/>
              <a:t>Rede capaz de gerar cálculos altamente complexos</a:t>
            </a:r>
          </a:p>
          <a:p>
            <a:pPr rtl="0"/>
            <a:r>
              <a:rPr lang="pt-BR" dirty="0"/>
              <a:t>Organização de camadas consecutivas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A83A368-B0FD-522E-C117-5E0A70454D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64" y="5836764"/>
            <a:ext cx="1504315" cy="709295"/>
          </a:xfrm>
          <a:prstGeom prst="rect">
            <a:avLst/>
          </a:prstGeom>
          <a:noFill/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1FE0773-D926-3FD3-F4AC-FEE315475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636" y="2852936"/>
            <a:ext cx="3630850" cy="238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142703" y="188116"/>
            <a:ext cx="9903418" cy="1905000"/>
          </a:xfrm>
        </p:spPr>
        <p:txBody>
          <a:bodyPr rtlCol="0"/>
          <a:lstStyle/>
          <a:p>
            <a:pPr algn="ctr" rtl="0"/>
            <a:r>
              <a:rPr lang="pt-BR" dirty="0" err="1"/>
              <a:t>Deep</a:t>
            </a:r>
            <a:r>
              <a:rPr lang="pt-BR" dirty="0"/>
              <a:t> learning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5086300" y="1772816"/>
            <a:ext cx="6480720" cy="2304256"/>
          </a:xfrm>
        </p:spPr>
        <p:txBody>
          <a:bodyPr rtlCol="0">
            <a:normAutofit fontScale="92500"/>
          </a:bodyPr>
          <a:lstStyle/>
          <a:p>
            <a:pPr rtl="0"/>
            <a:r>
              <a:rPr lang="pt-BR" dirty="0" err="1"/>
              <a:t>Deep</a:t>
            </a:r>
            <a:r>
              <a:rPr lang="pt-BR" dirty="0"/>
              <a:t> Learning é um subconjunto do machine learning</a:t>
            </a:r>
          </a:p>
          <a:p>
            <a:pPr rtl="0"/>
            <a:r>
              <a:rPr lang="pt-BR" dirty="0"/>
              <a:t>considerado como uma classe de algoritmos de aprendizado de máquina que utiliza múltiplas camadas de unidades computacionais, onde cada camada aprende a sua própria representação dos dados de entrada</a:t>
            </a:r>
          </a:p>
          <a:p>
            <a:pPr rtl="0"/>
            <a:r>
              <a:rPr lang="pt-BR" dirty="0"/>
              <a:t>Rede sistema apresenta algo como entrada e a rede produz algo útil em sua saída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A83A368-B0FD-522E-C117-5E0A70454D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64" y="5836764"/>
            <a:ext cx="1504315" cy="70929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8C13B2C-C7AD-5976-A7CF-7031DB863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703" y="2026741"/>
            <a:ext cx="2920251" cy="179640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10A49F6-0F65-F54E-80C6-C9819F87B6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8873" y="4653136"/>
            <a:ext cx="5597248" cy="141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65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ctr" rtl="0"/>
            <a:r>
              <a:rPr lang="pt-BR" dirty="0"/>
              <a:t>Redes neurais </a:t>
            </a:r>
            <a:r>
              <a:rPr lang="pt-BR" dirty="0" err="1"/>
              <a:t>convolucionais</a:t>
            </a:r>
            <a:endParaRPr lang="pt-BR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602656" y="2276872"/>
            <a:ext cx="7024707" cy="3124201"/>
          </a:xfrm>
        </p:spPr>
        <p:txBody>
          <a:bodyPr rtlCol="0">
            <a:normAutofit fontScale="77500" lnSpcReduction="20000"/>
          </a:bodyPr>
          <a:lstStyle/>
          <a:p>
            <a:pPr rtl="0"/>
            <a:r>
              <a:rPr lang="pt-BR" dirty="0"/>
              <a:t>Redes neurais </a:t>
            </a:r>
            <a:r>
              <a:rPr lang="pt-BR" dirty="0" err="1"/>
              <a:t>convolucionais</a:t>
            </a:r>
            <a:r>
              <a:rPr lang="pt-BR" dirty="0"/>
              <a:t> surgiram do estudo do córtex visual do cérebro e têm sido usados no reconhecimento de imagens desde a década de 1980.</a:t>
            </a:r>
          </a:p>
          <a:p>
            <a:pPr rtl="0"/>
            <a:r>
              <a:rPr lang="pt-BR" dirty="0"/>
              <a:t>aumento do poder computacional + quantidade de dados de treinamento disponíveis -&gt; redes </a:t>
            </a:r>
            <a:r>
              <a:rPr lang="pt-BR" dirty="0" err="1"/>
              <a:t>convolucionais</a:t>
            </a:r>
            <a:r>
              <a:rPr lang="pt-BR" dirty="0"/>
              <a:t> conseguiram atingir um desempenho excepcional em tarefas visuais complexas</a:t>
            </a:r>
          </a:p>
          <a:p>
            <a:pPr rtl="0"/>
            <a:r>
              <a:rPr lang="pt-BR" dirty="0"/>
              <a:t>não se restringe à percepção visual: reconhecimento de voz ou processamento de linguagem natural</a:t>
            </a:r>
          </a:p>
          <a:p>
            <a:pPr rtl="0"/>
            <a:r>
              <a:rPr lang="pt-BR" dirty="0"/>
              <a:t>invariância de translação</a:t>
            </a:r>
          </a:p>
          <a:p>
            <a:pPr rtl="0"/>
            <a:r>
              <a:rPr lang="pt-BR" dirty="0"/>
              <a:t>uma camada </a:t>
            </a:r>
            <a:r>
              <a:rPr lang="pt-BR" dirty="0" err="1"/>
              <a:t>convolucional</a:t>
            </a:r>
            <a:r>
              <a:rPr lang="pt-BR" dirty="0"/>
              <a:t> para processamento de imagem tem uma topologia</a:t>
            </a:r>
          </a:p>
          <a:p>
            <a:pPr rtl="0"/>
            <a:r>
              <a:rPr lang="pt-BR" dirty="0"/>
              <a:t>diferente, onde os neurônios são organizados em três dimensões.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A83A368-B0FD-522E-C117-5E0A70454D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64" y="5836764"/>
            <a:ext cx="1504315" cy="709295"/>
          </a:xfrm>
          <a:prstGeom prst="rect">
            <a:avLst/>
          </a:prstGeom>
          <a:noFill/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CF35CBE-61A3-3D83-294C-CA957A9E4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652" y="2636912"/>
            <a:ext cx="3240360" cy="218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198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142703" y="311941"/>
            <a:ext cx="9903418" cy="1905000"/>
          </a:xfrm>
        </p:spPr>
        <p:txBody>
          <a:bodyPr rtlCol="0"/>
          <a:lstStyle/>
          <a:p>
            <a:pPr algn="ctr" rtl="0"/>
            <a:r>
              <a:rPr lang="pt-BR" dirty="0"/>
              <a:t>Topologia rede </a:t>
            </a:r>
            <a:r>
              <a:rPr lang="pt-BR" dirty="0" err="1"/>
              <a:t>convolucional</a:t>
            </a:r>
            <a:endParaRPr lang="pt-BR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4438228" y="1877616"/>
            <a:ext cx="7024707" cy="3600400"/>
          </a:xfrm>
        </p:spPr>
        <p:txBody>
          <a:bodyPr rtlCol="0">
            <a:normAutofit fontScale="77500" lnSpcReduction="20000"/>
          </a:bodyPr>
          <a:lstStyle/>
          <a:p>
            <a:pPr rtl="0"/>
            <a:r>
              <a:rPr lang="pt-BR" dirty="0"/>
              <a:t>Duas das dimensões (largura e altura) correspondem à natureza 2D de uma imagem. Os neurônios são agrupados em canais ou mapas de recursos em uma terceira dimensão.</a:t>
            </a:r>
          </a:p>
          <a:p>
            <a:pPr rtl="0"/>
            <a:r>
              <a:rPr lang="pt-BR" dirty="0"/>
              <a:t>não há conexão entre os neurônios em uma </a:t>
            </a:r>
            <a:r>
              <a:rPr lang="pt-BR" dirty="0" err="1"/>
              <a:t>camadaconvolucional</a:t>
            </a:r>
            <a:endParaRPr lang="pt-BR" dirty="0"/>
          </a:p>
          <a:p>
            <a:pPr rtl="0"/>
            <a:r>
              <a:rPr lang="pt-BR" dirty="0"/>
              <a:t>Cada neurônio em uma camada </a:t>
            </a:r>
            <a:r>
              <a:rPr lang="pt-BR" dirty="0" err="1"/>
              <a:t>convolucional</a:t>
            </a:r>
            <a:r>
              <a:rPr lang="pt-BR" dirty="0"/>
              <a:t> implementa uma operação conhecida como núcleo </a:t>
            </a:r>
            <a:r>
              <a:rPr lang="pt-BR" dirty="0" err="1"/>
              <a:t>convolucional</a:t>
            </a:r>
            <a:endParaRPr lang="pt-BR" dirty="0"/>
          </a:p>
          <a:p>
            <a:pPr rtl="0"/>
            <a:r>
              <a:rPr lang="pt-BR" dirty="0"/>
              <a:t>cada neurônio recebe valores de pixel apenas de um subconjunto da imagem. Para uma imagem colorida, cada valor de pixel consiste em três valores, também conhecidos como canais de cores.</a:t>
            </a:r>
          </a:p>
          <a:p>
            <a:pPr rtl="0"/>
            <a:r>
              <a:rPr lang="pt-BR" dirty="0"/>
              <a:t>Cada neurônio atua como um identificador de recurso (padrão) e disparará se o recurso específico for encontrado no local coberto pelo campo receptivo desse neurônio.</a:t>
            </a:r>
          </a:p>
          <a:p>
            <a:pPr rtl="0"/>
            <a:r>
              <a:rPr lang="pt-BR" dirty="0"/>
              <a:t>Cada camada </a:t>
            </a:r>
            <a:r>
              <a:rPr lang="pt-BR" dirty="0" err="1"/>
              <a:t>convolucional</a:t>
            </a:r>
            <a:r>
              <a:rPr lang="pt-BR" dirty="0"/>
              <a:t> possui vários canais de saída. Cada canal corresponde a um recurso específico, como uma linha vertical, uma linha horizontal, uma linha diagonal ou uma mancha roxa.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A83A368-B0FD-522E-C117-5E0A70454D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64" y="5836764"/>
            <a:ext cx="1504315" cy="709295"/>
          </a:xfrm>
          <a:prstGeom prst="rect">
            <a:avLst/>
          </a:prstGeom>
          <a:noFill/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9EACE6D-3FD8-0C5B-1DEE-88E2C08BA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921" y="1772816"/>
            <a:ext cx="3015170" cy="1905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4C8701B-3116-C52B-521B-0949521129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920" y="3865198"/>
            <a:ext cx="3015169" cy="17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10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170287" y="856"/>
            <a:ext cx="9903418" cy="1905000"/>
          </a:xfrm>
        </p:spPr>
        <p:txBody>
          <a:bodyPr rtlCol="0"/>
          <a:lstStyle/>
          <a:p>
            <a:pPr algn="ctr" rtl="0"/>
            <a:r>
              <a:rPr lang="pt-BR" dirty="0"/>
              <a:t>Redes neurais recorrentes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909836" y="1325306"/>
            <a:ext cx="10729192" cy="3759878"/>
          </a:xfrm>
        </p:spPr>
        <p:txBody>
          <a:bodyPr rtlCol="0">
            <a:normAutofit fontScale="70000" lnSpcReduction="20000"/>
          </a:bodyPr>
          <a:lstStyle/>
          <a:p>
            <a:pPr rtl="0"/>
            <a:r>
              <a:rPr lang="pt-BR" dirty="0"/>
              <a:t>algumas informações se fazem presentes não apenas pelo conteúdo que as compõem, mas também pela maneira como esse conteúdo está disposto -&gt; informações que são sequenciais por natureza</a:t>
            </a:r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marL="0" indent="0" rtl="0">
              <a:buNone/>
            </a:pPr>
            <a:endParaRPr lang="pt-BR" dirty="0"/>
          </a:p>
          <a:p>
            <a:pPr rtl="0"/>
            <a:r>
              <a:rPr lang="pt-BR" dirty="0"/>
              <a:t>A forma mais tradicional de lidar com esse tipo de dado é com variáveis defasadas -&gt; como fazer para decidir quantas defasagens é suficiente? E se não têm nem sequer o número mínimo de defasagens? E se o tamanho das sequências é variável?</a:t>
            </a:r>
          </a:p>
          <a:p>
            <a:pPr rtl="0"/>
            <a:r>
              <a:rPr lang="pt-BR" dirty="0"/>
              <a:t>modelo opera em sequências independentes do seu tamanho e das suas variações. não aumenta de tamanho com o aumento das sequências </a:t>
            </a:r>
          </a:p>
          <a:p>
            <a:pPr rtl="0"/>
            <a:r>
              <a:rPr lang="pt-BR" dirty="0"/>
              <a:t>a camada oculta da rede neural recorrente, por sua vez, recebe sinais tanto da camada de entrada quanto da camada oculta (memória) na iteração de tempo anterior.</a:t>
            </a:r>
          </a:p>
          <a:p>
            <a:pPr rtl="0"/>
            <a:r>
              <a:rPr lang="pt-BR" dirty="0"/>
              <a:t>Redes neurais recorrentes foram feitas para processar sequências</a:t>
            </a:r>
          </a:p>
          <a:p>
            <a:pPr rtl="0"/>
            <a:r>
              <a:rPr lang="pt-BR" dirty="0"/>
              <a:t>forma como essas sequências são lidas para a rede, quanto a forma como são geradas por ela, são ambas escolhas de arquitetura que dependerão do tipo de aplicação do modelo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A83A368-B0FD-522E-C117-5E0A70454D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64" y="5836764"/>
            <a:ext cx="1504315" cy="709295"/>
          </a:xfrm>
          <a:prstGeom prst="rect">
            <a:avLst/>
          </a:prstGeom>
          <a:noFill/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D952D3C-0D52-0EED-9875-85D69A143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8557" y="2023225"/>
            <a:ext cx="5311749" cy="79474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B5DDC8A-F27C-D5BA-4206-001F0EE004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740" y="5233223"/>
            <a:ext cx="4608512" cy="120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44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142701" y="116632"/>
            <a:ext cx="9903418" cy="1080120"/>
          </a:xfrm>
        </p:spPr>
        <p:txBody>
          <a:bodyPr rtlCol="0"/>
          <a:lstStyle/>
          <a:p>
            <a:pPr algn="ctr" rtl="0"/>
            <a:r>
              <a:rPr lang="pt-BR" dirty="0" err="1"/>
              <a:t>autoencoder</a:t>
            </a:r>
            <a:endParaRPr lang="pt-BR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745853" y="1052736"/>
            <a:ext cx="10697115" cy="4680520"/>
          </a:xfrm>
        </p:spPr>
        <p:txBody>
          <a:bodyPr rtlCol="0">
            <a:normAutofit fontScale="70000" lnSpcReduction="20000"/>
          </a:bodyPr>
          <a:lstStyle/>
          <a:p>
            <a:pPr rtl="0"/>
            <a:r>
              <a:rPr lang="pt-BR" dirty="0"/>
              <a:t>Os </a:t>
            </a:r>
            <a:r>
              <a:rPr lang="pt-BR" dirty="0" err="1"/>
              <a:t>Autoencoders</a:t>
            </a:r>
            <a:r>
              <a:rPr lang="pt-BR" dirty="0"/>
              <a:t> codificam os valores de entrada x usando uma função f. Em seguida, decodificam os valores codificados f (x) usando uma função g para criar valores de saída idênticos aos valores de entrada.</a:t>
            </a:r>
          </a:p>
          <a:p>
            <a:pPr rtl="0"/>
            <a:r>
              <a:rPr lang="pt-BR" dirty="0"/>
              <a:t>O objetivo do </a:t>
            </a:r>
            <a:r>
              <a:rPr lang="pt-BR" dirty="0" err="1"/>
              <a:t>Autoencoder</a:t>
            </a:r>
            <a:r>
              <a:rPr lang="pt-BR" dirty="0"/>
              <a:t> é minimizar o erro de reconstrução entre a entrada e a saída</a:t>
            </a:r>
          </a:p>
          <a:p>
            <a:pPr rtl="0"/>
            <a:r>
              <a:rPr lang="pt-BR" dirty="0"/>
              <a:t>uma rede neural artificial de três camadas -&gt; uma rede neural com uma camada de entrada, uma oculta e uma camada de saída.</a:t>
            </a:r>
          </a:p>
          <a:p>
            <a:pPr rtl="0"/>
            <a:r>
              <a:rPr lang="pt-BR" dirty="0" err="1"/>
              <a:t>Autoencoder</a:t>
            </a:r>
            <a:r>
              <a:rPr lang="pt-BR" dirty="0"/>
              <a:t> Multicamada -&gt; Se uma camada oculta não for suficiente, obviamente podemos estender o </a:t>
            </a:r>
            <a:r>
              <a:rPr lang="pt-BR" dirty="0" err="1"/>
              <a:t>Autoencoder</a:t>
            </a:r>
            <a:r>
              <a:rPr lang="pt-BR" dirty="0"/>
              <a:t> para mais camadas ocultas</a:t>
            </a:r>
          </a:p>
          <a:p>
            <a:pPr rtl="0"/>
            <a:r>
              <a:rPr lang="pt-BR" dirty="0" err="1"/>
              <a:t>Autoencoder</a:t>
            </a:r>
            <a:r>
              <a:rPr lang="pt-BR" dirty="0"/>
              <a:t> </a:t>
            </a:r>
            <a:r>
              <a:rPr lang="pt-BR" dirty="0" err="1"/>
              <a:t>Convolucional</a:t>
            </a:r>
            <a:r>
              <a:rPr lang="pt-BR" dirty="0"/>
              <a:t> -&gt; </a:t>
            </a:r>
            <a:r>
              <a:rPr lang="pt-BR" dirty="0" err="1"/>
              <a:t>autoencoders</a:t>
            </a:r>
            <a:r>
              <a:rPr lang="pt-BR" dirty="0"/>
              <a:t> podem ser usados com convoluções em vez de camadas totalmente conectadas</a:t>
            </a:r>
          </a:p>
          <a:p>
            <a:pPr rtl="0"/>
            <a:r>
              <a:rPr lang="pt-BR" dirty="0" err="1"/>
              <a:t>Autoencoder</a:t>
            </a:r>
            <a:r>
              <a:rPr lang="pt-BR" dirty="0"/>
              <a:t> Regularizado -&gt; usam uma função de perda que incentiva o modelo a ter outras propriedades além da capacidade de copiar sua entrada para sua saída.</a:t>
            </a:r>
          </a:p>
          <a:p>
            <a:pPr lvl="1"/>
            <a:r>
              <a:rPr lang="pt-BR" dirty="0" err="1"/>
              <a:t>Autoencoder</a:t>
            </a:r>
            <a:r>
              <a:rPr lang="pt-BR" dirty="0"/>
              <a:t> Esparso -&gt; ​​para aprender recursos para outra tarefa, como classificação. deve responder a recursos estatísticos exclusivos do conjunto de dados em que foi treinado</a:t>
            </a:r>
          </a:p>
          <a:p>
            <a:pPr lvl="1"/>
            <a:r>
              <a:rPr lang="pt-BR" dirty="0" err="1"/>
              <a:t>Autoencoder</a:t>
            </a:r>
            <a:r>
              <a:rPr lang="pt-BR" dirty="0"/>
              <a:t> </a:t>
            </a:r>
            <a:r>
              <a:rPr lang="pt-BR" dirty="0" err="1"/>
              <a:t>Denoising</a:t>
            </a:r>
            <a:r>
              <a:rPr lang="pt-BR" dirty="0"/>
              <a:t> -&gt; Em vez de adicionar uma penalidade à função de perda, podemos obter um </a:t>
            </a:r>
            <a:r>
              <a:rPr lang="pt-BR" dirty="0" err="1"/>
              <a:t>Autoencoder</a:t>
            </a:r>
            <a:r>
              <a:rPr lang="pt-BR" dirty="0"/>
              <a:t> que aprende algo útil alterando o termo do erro de reconstrução da função de perda. Isso pode ser feito adicionando algum ruído à imagem de entrada e fazendo o </a:t>
            </a:r>
            <a:r>
              <a:rPr lang="pt-BR" dirty="0" err="1"/>
              <a:t>Autoencoder</a:t>
            </a:r>
            <a:r>
              <a:rPr lang="pt-BR" dirty="0"/>
              <a:t> aprender a removê-la</a:t>
            </a:r>
          </a:p>
          <a:p>
            <a:r>
              <a:rPr lang="pt-BR" dirty="0" err="1"/>
              <a:t>Contractive</a:t>
            </a:r>
            <a:r>
              <a:rPr lang="pt-BR" dirty="0"/>
              <a:t> </a:t>
            </a:r>
            <a:r>
              <a:rPr lang="pt-BR" dirty="0" err="1"/>
              <a:t>Autoencoders</a:t>
            </a:r>
            <a:r>
              <a:rPr lang="pt-BR" dirty="0"/>
              <a:t>(CAE) -&gt; é ter uma representação aprendida robusta, menos sensível a pequenas variações nos dados</a:t>
            </a:r>
          </a:p>
          <a:p>
            <a:r>
              <a:rPr lang="pt-BR" dirty="0" err="1"/>
              <a:t>Deep</a:t>
            </a:r>
            <a:r>
              <a:rPr lang="pt-BR" dirty="0"/>
              <a:t> </a:t>
            </a:r>
            <a:r>
              <a:rPr lang="pt-BR" dirty="0" err="1"/>
              <a:t>Autoencoders</a:t>
            </a:r>
            <a:r>
              <a:rPr lang="pt-BR" dirty="0"/>
              <a:t> -&gt; </a:t>
            </a:r>
            <a:r>
              <a:rPr lang="pt-BR" dirty="0" err="1"/>
              <a:t>Deep</a:t>
            </a:r>
            <a:r>
              <a:rPr lang="pt-BR" dirty="0"/>
              <a:t> </a:t>
            </a:r>
            <a:r>
              <a:rPr lang="pt-BR" dirty="0" err="1"/>
              <a:t>Autoencoders</a:t>
            </a:r>
            <a:r>
              <a:rPr lang="pt-BR" dirty="0"/>
              <a:t> consistem em duas redes de crenças profundas idênticas (</a:t>
            </a:r>
            <a:r>
              <a:rPr lang="pt-BR" dirty="0" err="1"/>
              <a:t>Deep</a:t>
            </a:r>
            <a:r>
              <a:rPr lang="pt-BR" dirty="0"/>
              <a:t> </a:t>
            </a:r>
            <a:r>
              <a:rPr lang="pt-BR" dirty="0" err="1"/>
              <a:t>Belief</a:t>
            </a:r>
            <a:r>
              <a:rPr lang="pt-BR" dirty="0"/>
              <a:t> Networks). Uma rede para codificação e outra para decodificação. 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A83A368-B0FD-522E-C117-5E0A70454D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64" y="5836764"/>
            <a:ext cx="1504315" cy="7092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7180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ha">
  <a:themeElements>
    <a:clrScheme name="Malh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h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h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Tema do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TM03457485[[fn=Malha]]</Template>
  <TotalTime>189</TotalTime>
  <Words>824</Words>
  <Application>Microsoft Office PowerPoint</Application>
  <PresentationFormat>Personalizar</PresentationFormat>
  <Paragraphs>57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Corbel</vt:lpstr>
      <vt:lpstr>Malha</vt:lpstr>
      <vt:lpstr>Ministério da ciência, tecnologia e inovações  Concurso laboratório nacional de computação científica lncc</vt:lpstr>
      <vt:lpstr>Redes neurais profundas: convolucionais, recorrentes, autoencoder</vt:lpstr>
      <vt:lpstr>Deep learning</vt:lpstr>
      <vt:lpstr>Redes neurais convolucionais</vt:lpstr>
      <vt:lpstr>Topologia rede convolucional</vt:lpstr>
      <vt:lpstr>Redes neurais recorrentes</vt:lpstr>
      <vt:lpstr>autoencoder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Ministério da ciência, tecnologia e inovações  Concurso laboratório nacional de computação científica lncc</dc:title>
  <dc:creator>Alice Ratton</dc:creator>
  <cp:lastModifiedBy>Alice Ratton</cp:lastModifiedBy>
  <cp:revision>27</cp:revision>
  <dcterms:created xsi:type="dcterms:W3CDTF">2024-05-15T15:58:57Z</dcterms:created>
  <dcterms:modified xsi:type="dcterms:W3CDTF">2024-05-16T01:37:51Z</dcterms:modified>
</cp:coreProperties>
</file>